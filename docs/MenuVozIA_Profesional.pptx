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08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1645920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A254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040880" y="1463040"/>
            <a:ext cx="1188720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02920"/>
            <a:ext cx="1828800" cy="3474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502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AVANCE 2 · SISTEMAS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051560"/>
            <a:ext cx="6400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Menú</a:t>
            </a:r>
            <a:endParaRPr lang="en-US" sz="4000" dirty="0"/>
          </a:p>
          <a:p>
            <a:pPr marL="0" indent="0">
              <a:buNone/>
            </a:pPr>
            <a:r>
              <a:rPr lang="en-US" sz="4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Voz con IA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502920" y="2816352"/>
            <a:ext cx="256032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94436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 accesible para consulta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menú y gestión de pedidos en restaurantes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4480560"/>
            <a:ext cx="7772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Virtual: Leo  ·  Voice-First UI  ·  Backend Funcional  ·  Ingeniería de Sistemas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0" y="4480560"/>
            <a:ext cx="822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560"/>
                </a:solidFill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</a:rPr>
              <a:t>Menú por Voz con IA — Contenido de la presentación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09728" cy="8961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353312"/>
            <a:ext cx="384048" cy="384048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1261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627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brecha de accesibilidad y necesidad técnica.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109728" cy="8961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Shape 11"/>
          <p:cNvSpPr/>
          <p:nvPr/>
        </p:nvSpPr>
        <p:spPr>
          <a:xfrm>
            <a:off x="4956048" y="1353312"/>
            <a:ext cx="384048" cy="384048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14" name="Text 12"/>
          <p:cNvSpPr/>
          <p:nvPr/>
        </p:nvSpPr>
        <p:spPr>
          <a:xfrm>
            <a:off x="495604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68112" y="1261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68112" y="1627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módulos y flujo funcional.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31720"/>
            <a:ext cx="109728" cy="8961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2496312"/>
            <a:ext cx="384048" cy="384048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2770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para menú, sesiones y pedidos.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31720"/>
            <a:ext cx="109728" cy="8961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5" name="Shape 23"/>
          <p:cNvSpPr/>
          <p:nvPr/>
        </p:nvSpPr>
        <p:spPr>
          <a:xfrm>
            <a:off x="4956048" y="2496312"/>
            <a:ext cx="384048" cy="384048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68112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implementado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68112" y="2770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frontend, chat y pruebas realizadas.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74720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474720"/>
            <a:ext cx="109728" cy="8961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1" name="Shape 29"/>
          <p:cNvSpPr/>
          <p:nvPr/>
        </p:nvSpPr>
        <p:spPr>
          <a:xfrm>
            <a:off x="566928" y="3639312"/>
            <a:ext cx="384048" cy="384048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" y="3547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y UX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78992" y="3913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voice-first centrado en accesibilidad.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474720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474720"/>
            <a:ext cx="109728" cy="8961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7" name="Shape 35"/>
          <p:cNvSpPr/>
          <p:nvPr/>
        </p:nvSpPr>
        <p:spPr>
          <a:xfrm>
            <a:off x="4956048" y="3639312"/>
            <a:ext cx="384048" cy="384048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38" name="Text 36"/>
          <p:cNvSpPr/>
          <p:nvPr/>
        </p:nvSpPr>
        <p:spPr>
          <a:xfrm>
            <a:off x="495604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68112" y="3547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68112" y="3913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local, voz real, mejora conversacional y validación.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PROBLEMÁTICA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Enfoque técnico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accesibilidad en la consulta de menú y toma de pedidos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114800" cy="1920240"/>
          </a:xfrm>
          <a:prstGeom prst="rect">
            <a:avLst/>
          </a:prstGeom>
          <a:solidFill>
            <a:srgbClr val="111936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37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Situación actual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muchos restaurantes, el menú se presenta mediante cartas físicas, QR o interfaces visuales no adaptadas para usuarios con discapacidad visual. Esto genera dependencia del personal, tiempos de atención variables y mayor probabilidad de errores en el pedido.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664208"/>
            <a:ext cx="4114800" cy="59436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64208"/>
            <a:ext cx="10972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56048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Acceso limitado al menú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56048" y="1956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El usuario no puede consultar precios, variantes o disponibilidad sin asistencia externa.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322576"/>
            <a:ext cx="4114800" cy="59436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322576"/>
            <a:ext cx="10972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956048" y="2368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Registro dependiente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2615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La toma de pedidos depende de la interpretación del personal, sin trazabilidad.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980944"/>
            <a:ext cx="4114800" cy="59436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80944"/>
            <a:ext cx="10972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56048" y="3026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Sin flujo conversacional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6048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Los menús digitales tradicionales no guían al usuario por voz ni permiten correcciones.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8412480" cy="804672"/>
          </a:xfrm>
          <a:prstGeom prst="rect">
            <a:avLst/>
          </a:prstGeom>
          <a:solidFill>
            <a:srgbClr val="00C9A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70332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0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Ingeniería de Sistemas, el problema no es solo visual: es una falta de automatización, accesibilidad digital, trazabilidad y validación estructurada del proceso de atención.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3560"/>
                </a:solidFill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FORMULACIÓN DEL 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Ingeniería de Sistemas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1325880"/>
          </a:xfrm>
          <a:prstGeom prst="rect">
            <a:avLst/>
          </a:prstGeom>
          <a:solidFill>
            <a:srgbClr val="0A0F2A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137160" cy="1325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Pregunta de Investigación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diseñar e implementar un sistema web conversacional que permita a usuarios con discapacidad visual consultar un menú de restaurante y gestionar pedidos mediante interacción guiada por voz, manteniendo reglas de negocio, trazabilidad y consistencia de datos?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1965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78608"/>
            <a:ext cx="1965960" cy="109728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61488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3520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Accesibilidad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" y="3913632"/>
            <a:ext cx="1746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guiada por voz y botones de alta visibilidad.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42032" y="2578608"/>
            <a:ext cx="1965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42032" y="2578608"/>
            <a:ext cx="1965960" cy="10972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2761488"/>
            <a:ext cx="685800" cy="6858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33472" y="3520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Consistencia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651760" y="3913632"/>
            <a:ext cx="1746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Precios, productos y totales controlados desde backend.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718304" y="2578608"/>
            <a:ext cx="1965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18304" y="2578608"/>
            <a:ext cx="1965960" cy="1097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2761488"/>
            <a:ext cx="685800" cy="6858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09744" y="3520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Trazabilidad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828032" y="3913632"/>
            <a:ext cx="1746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Sesiones, eventos de pedido e historial de interacción.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894576" y="2578608"/>
            <a:ext cx="1965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94576" y="2578608"/>
            <a:ext cx="1965960" cy="109728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2761488"/>
            <a:ext cx="685800" cy="6858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86016" y="3520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Escalabilidad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004304" y="3913632"/>
            <a:ext cx="1746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 con Next.js, NestJS y PostgreSQL.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OBJETIVOS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Alcance del avance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114300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137160" cy="1143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3385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Objetivo General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863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web accesible que permita consultar el menú de un restaurante y gestionar pedidos mediante interacción conversacional, integrando frontend, backend, base de datos y servicios de voz/IA en una arquitectura mantenible.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8412480" cy="438912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68880"/>
            <a:ext cx="292608" cy="29260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A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4505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modelo de datos relacional para menú, variantes, modificadores, sesiones y pedidos.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98648"/>
            <a:ext cx="8412480" cy="438912"/>
          </a:xfrm>
          <a:prstGeom prst="rect">
            <a:avLst/>
          </a:prstGeom>
          <a:solidFill>
            <a:srgbClr val="1A2544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71800"/>
            <a:ext cx="292608" cy="29260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A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29535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servicios backend para consultar menú, crear sesiones y gestionar pedidos en estado borrador.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8412480" cy="438912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474720"/>
            <a:ext cx="292608" cy="29260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A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6112" y="34564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interfaz frontend voice-first orientada a accesibilidad.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904488"/>
            <a:ext cx="8412480" cy="438912"/>
          </a:xfrm>
          <a:prstGeom prst="rect">
            <a:avLst/>
          </a:prstGeom>
          <a:solidFill>
            <a:srgbClr val="1A25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977640"/>
            <a:ext cx="292608" cy="29260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A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" y="3959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un módulo conversacional básico que interprete solicitudes simples del usuario.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480560"/>
            <a:ext cx="292608" cy="29260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A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6112" y="44622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flujo funcional mediante pruebas manuales de endpoints y uso desde navegador.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3560"/>
                </a:solidFill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SOLUCIÓN PROPUESTA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Leo · Mesero Virtual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743200" cy="3703320"/>
          </a:xfrm>
          <a:prstGeom prst="rect">
            <a:avLst/>
          </a:prstGeom>
          <a:solidFill>
            <a:srgbClr val="0A0F2A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</a:rPr>
              <a:t>Leo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02920" y="3566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Mesero virtual que guía al usuario por voz, lee opciones del menú y facilita el registro del pedido.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078992"/>
            <a:ext cx="5440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078992"/>
            <a:ext cx="109728" cy="841248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28016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1521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Consulta Guiada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60520" y="14630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orienta al usuario: leer carta, bebidas, comida, postres o pedido actual.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337560" y="2002536"/>
            <a:ext cx="5440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337560" y="2002536"/>
            <a:ext cx="109728" cy="84124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22037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60520" y="20756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Gestión del Pedido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160520" y="23865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agregar, modificar, quitar y confirmar productos mediante un flujo controlado.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337560" y="2926080"/>
            <a:ext cx="5440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337560" y="2926080"/>
            <a:ext cx="109728" cy="84124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3127248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160520" y="2999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Validación Backend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160520" y="33101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negocio, precios y totales se validan en NestJS, no en el frontend.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37560" y="3849624"/>
            <a:ext cx="5440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37560" y="3849624"/>
            <a:ext cx="109728" cy="841248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4050792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60520" y="3922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Evolución a IA Local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160520" y="42336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inicial puede ampliarse con LLM local para lenguaje natural más flexible.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ARQUITECTURA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Cliente · Servidor · Datos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Separación por capas y responsabilidades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667512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36192"/>
            <a:ext cx="128016" cy="66751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55064"/>
            <a:ext cx="438912" cy="4389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70432" y="1700784"/>
            <a:ext cx="914400" cy="2926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1170432" y="17007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Frontend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12848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Next.js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12848" y="189280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accesible, micrófono, conversación, pedido actual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70832" y="2203704"/>
            <a:ext cx="54864" cy="82296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2286000"/>
            <a:ext cx="8412480" cy="667512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286000"/>
            <a:ext cx="128016" cy="66751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404872"/>
            <a:ext cx="438912" cy="4389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170432" y="2450592"/>
            <a:ext cx="91440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5"/>
          <p:cNvSpPr/>
          <p:nvPr/>
        </p:nvSpPr>
        <p:spPr>
          <a:xfrm>
            <a:off x="1170432" y="2450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Backend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212848" y="2350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NestJS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212848" y="2642616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reglas de negocio, módulos y validaciones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370832" y="2953512"/>
            <a:ext cx="54864" cy="82296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23" name="Shape 19"/>
          <p:cNvSpPr/>
          <p:nvPr/>
        </p:nvSpPr>
        <p:spPr>
          <a:xfrm>
            <a:off x="365760" y="3035808"/>
            <a:ext cx="8412480" cy="667512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65760" y="3035808"/>
            <a:ext cx="128016" cy="667512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154680"/>
            <a:ext cx="438912" cy="43891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170432" y="3200400"/>
            <a:ext cx="914400" cy="2926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2"/>
          <p:cNvSpPr/>
          <p:nvPr/>
        </p:nvSpPr>
        <p:spPr>
          <a:xfrm>
            <a:off x="1170432" y="32004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ORM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2212848" y="3099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Prisma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2212848" y="339242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tipado, modelos, sincronización con base de datos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370832" y="3703320"/>
            <a:ext cx="54864" cy="82296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31" name="Shape 26"/>
          <p:cNvSpPr/>
          <p:nvPr/>
        </p:nvSpPr>
        <p:spPr>
          <a:xfrm>
            <a:off x="365760" y="3785616"/>
            <a:ext cx="8412480" cy="667512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365760" y="3785616"/>
            <a:ext cx="128016" cy="667512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904488"/>
            <a:ext cx="438912" cy="43891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1170432" y="3950208"/>
            <a:ext cx="914400" cy="2926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5" name="Text 29"/>
          <p:cNvSpPr/>
          <p:nvPr/>
        </p:nvSpPr>
        <p:spPr>
          <a:xfrm>
            <a:off x="1170432" y="3950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BD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2212848" y="3849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Supabase PostgreSQL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2212848" y="414223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Menú, pedidos, sesiones, logs, eventos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9" name="Text 33"/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0F2A"/>
                </a:solidFill>
              </a:rPr>
              <a:t>Principio de diseño: el frontend no calcula totales ni confía en precios. El backend valida cada operación y consulta la base de datos como fuente de verdad.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8503920" y="4727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3560"/>
                </a:solidFill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BASE DE DATOS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Modelo relacional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Estructura preparada para menú real, pedidos y trazabilidad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56032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256032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5727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A"/>
                </a:solidFill>
              </a:rPr>
              <a:t>Menú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categories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menu_items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642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menu_item_variants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572768"/>
            <a:ext cx="274320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1572768"/>
            <a:ext cx="27432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157276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A"/>
                </a:solidFill>
              </a:rPr>
              <a:t>Opciones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19842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modifier_groups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23134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modifier_options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6426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item_variant_modifier_groups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572768"/>
            <a:ext cx="2743200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572768"/>
            <a:ext cx="27432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144768" y="157276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A"/>
                </a:solidFill>
              </a:rPr>
              <a:t>Información Alimentaria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19842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ingredients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3134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allergens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26426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menu_item_ingredients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2971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menu_item_allergens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246120"/>
            <a:ext cx="256032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246120"/>
            <a:ext cx="2560320" cy="3657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32461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A"/>
                </a:solidFill>
              </a:rPr>
              <a:t>Pedido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orders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986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order_items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315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order_item_modifiers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3246120"/>
            <a:ext cx="566928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08960" y="3246120"/>
            <a:ext cx="5669280" cy="3657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4" name="Text 32"/>
          <p:cNvSpPr/>
          <p:nvPr/>
        </p:nvSpPr>
        <p:spPr>
          <a:xfrm>
            <a:off x="3218688" y="3246120"/>
            <a:ext cx="5449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A"/>
                </a:solidFill>
              </a:rPr>
              <a:t>Trazabilidad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46120" y="3657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sessions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46120" y="39867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interaction_logs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46120" y="43159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order_events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Vista de tablas y relaciones · Supabase PostgreSQL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Módulos implementados — NestJS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14800" cy="7772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128016" cy="777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1887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PrismaModule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14996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Supabase y cliente de datos.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14800" cy="7772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15568"/>
            <a:ext cx="128016" cy="7772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4992624" y="11887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SessionModule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92624" y="14996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sesiones activas para cada interacción.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4114800" cy="7772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29968"/>
            <a:ext cx="128016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21031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MenuModule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" y="24140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categorías, productos, variantes e información alimentaria.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029968"/>
            <a:ext cx="4114800" cy="7772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029968"/>
            <a:ext cx="128016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92624" y="21031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OrderModule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92624" y="24140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pedido DRAFT: agregar, modificar, quitar y confirmar.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44368"/>
            <a:ext cx="4114800" cy="7772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44368"/>
            <a:ext cx="128016" cy="7772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3017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ChatModule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" y="33284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mensajes de texto y ejecuta acciones simples de pedido.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114800" cy="7772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44368"/>
            <a:ext cx="128016" cy="777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4992624" y="3017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92624" y="33284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DTOs, restricciones y control de estados del pedido.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041648"/>
            <a:ext cx="8412480" cy="8229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096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A"/>
                </a:solidFill>
              </a:rPr>
              <a:t>Regla clave: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4074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0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pedido solo se modifica mientras está en estado DRAFT; al confirmarse pasa a CONFIRMED y queda bloqueado para cambios normales.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3560"/>
                </a:solidFill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Endpoints principales — Contrato funcional del avance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24712"/>
            <a:ext cx="804672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247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POST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1338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/sessions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133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sesión de atención.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499616"/>
            <a:ext cx="8412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545336"/>
            <a:ext cx="804672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5453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1554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/menu/items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productos disponibles.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920240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965960"/>
            <a:ext cx="804672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9659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/menu/items/:id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1975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detalle de producto.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340864"/>
            <a:ext cx="8412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386584"/>
            <a:ext cx="804672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3865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POST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25880" y="2395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/orders/current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Crear/recuperar pedido DRAFT.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761488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807208"/>
            <a:ext cx="804672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28072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POST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25880" y="2816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/orders/:id/items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producto al pedido.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182112"/>
            <a:ext cx="8412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227832"/>
            <a:ext cx="80467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2278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PATCH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25880" y="3236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/orders/:id/items/:itemId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3236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cantidad o detalles.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602736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3648456"/>
            <a:ext cx="804672" cy="2743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64845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DELETE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25880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/orders/:id/items/:itemId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46320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producto del pedido.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023360"/>
            <a:ext cx="8412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069080"/>
            <a:ext cx="804672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406908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POST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325880" y="40782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/orders/:id/confirm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4632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pedido.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443984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4489704"/>
            <a:ext cx="804672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" y="44897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2A"/>
                </a:solidFill>
              </a:rPr>
              <a:t>POST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325880" y="4498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/chat/message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46320" y="4498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conversacional con Leo.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FLUJO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Desde voz/texto hasta pedido confirmado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920240" cy="10058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1920240" cy="1645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Shape 6"/>
          <p:cNvSpPr/>
          <p:nvPr/>
        </p:nvSpPr>
        <p:spPr>
          <a:xfrm>
            <a:off x="1124712" y="1325880"/>
            <a:ext cx="402336" cy="40233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1124712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A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922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Crear sesión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04288" y="1572768"/>
            <a:ext cx="237744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542032" y="1097280"/>
            <a:ext cx="1920240" cy="10058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097280"/>
            <a:ext cx="192024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300984" y="1325880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3300984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A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33472" y="17922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Consultar menú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572768"/>
            <a:ext cx="237744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4718304" y="1097280"/>
            <a:ext cx="1920240" cy="10058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8304" y="1097280"/>
            <a:ext cx="192024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77256" y="132588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477256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A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9744" y="17922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Enviar mensaje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56832" y="1572768"/>
            <a:ext cx="237744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6894576" y="1097280"/>
            <a:ext cx="1920240" cy="10058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94576" y="1097280"/>
            <a:ext cx="1920240" cy="1645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653528" y="1325880"/>
            <a:ext cx="402336" cy="40233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7653528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A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86016" y="17922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Interpretar intención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88720" y="2331720"/>
            <a:ext cx="2560320" cy="10058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88720" y="2331720"/>
            <a:ext cx="2560320" cy="16459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1" name="Shape 29"/>
          <p:cNvSpPr/>
          <p:nvPr/>
        </p:nvSpPr>
        <p:spPr>
          <a:xfrm>
            <a:off x="2267712" y="2560320"/>
            <a:ext cx="402336" cy="40233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2" name="Text 30"/>
          <p:cNvSpPr/>
          <p:nvPr/>
        </p:nvSpPr>
        <p:spPr>
          <a:xfrm>
            <a:off x="2267712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A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80160" y="3026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Actualizar pedido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67328" y="2807208"/>
            <a:ext cx="237744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5" name="Shape 33"/>
          <p:cNvSpPr/>
          <p:nvPr/>
        </p:nvSpPr>
        <p:spPr>
          <a:xfrm>
            <a:off x="4005072" y="2331720"/>
            <a:ext cx="2560320" cy="10058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005072" y="2331720"/>
            <a:ext cx="2560320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7" name="Shape 35"/>
          <p:cNvSpPr/>
          <p:nvPr/>
        </p:nvSpPr>
        <p:spPr>
          <a:xfrm>
            <a:off x="5084064" y="2560320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5084064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A"/>
                </a:solidFill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096512" y="3026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Leer respuesta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2807208"/>
            <a:ext cx="237744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1" name="Shape 39"/>
          <p:cNvSpPr/>
          <p:nvPr/>
        </p:nvSpPr>
        <p:spPr>
          <a:xfrm>
            <a:off x="6821424" y="2331720"/>
            <a:ext cx="2560320" cy="100584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21424" y="2331720"/>
            <a:ext cx="2560320" cy="1645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3" name="Shape 41"/>
          <p:cNvSpPr/>
          <p:nvPr/>
        </p:nvSpPr>
        <p:spPr>
          <a:xfrm>
            <a:off x="7900416" y="2560320"/>
            <a:ext cx="402336" cy="40233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4" name="Text 42"/>
          <p:cNvSpPr/>
          <p:nvPr/>
        </p:nvSpPr>
        <p:spPr>
          <a:xfrm>
            <a:off x="7900416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2A"/>
                </a:solidFill>
              </a:rPr>
              <a:t>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12864" y="3026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Confirmar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44568" y="2121408"/>
            <a:ext cx="36576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7" name="Shape 45"/>
          <p:cNvSpPr/>
          <p:nvPr/>
        </p:nvSpPr>
        <p:spPr>
          <a:xfrm>
            <a:off x="365760" y="3520440"/>
            <a:ext cx="8412480" cy="128016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3520440"/>
            <a:ext cx="128016" cy="12801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9" name="Text 47"/>
          <p:cNvSpPr/>
          <p:nvPr/>
        </p:nvSpPr>
        <p:spPr>
          <a:xfrm>
            <a:off x="621792" y="3584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Validación realizada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1792" y="395020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básico fue probado exitosamente: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→ menú → pedido DRAFT → agregar/modificar/quitar → confirmar → bloquear cambios tras confirmación.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3560"/>
                </a:solidFill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FRONTEND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Voice-First Accesible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200400" cy="3749040"/>
          </a:xfrm>
          <a:prstGeom prst="rect">
            <a:avLst/>
          </a:prstGeom>
          <a:solidFill>
            <a:srgbClr val="0A0F2A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3200400" cy="411480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789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Frontend · Interfaz Leo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45920"/>
            <a:ext cx="1828800" cy="1828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547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</a:rPr>
              <a:t>Leo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02920" y="40416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Escuchando...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371600" y="4572000"/>
            <a:ext cx="1280160" cy="18288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Shape 10"/>
          <p:cNvSpPr/>
          <p:nvPr/>
        </p:nvSpPr>
        <p:spPr>
          <a:xfrm>
            <a:off x="3794760" y="1078992"/>
            <a:ext cx="4983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94760" y="1078992"/>
            <a:ext cx="109728" cy="82296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126187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90288" y="115214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Micrófono protagonista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90288" y="149961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central táctil de gran tamaño para iniciar la interacción.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794760" y="2011680"/>
            <a:ext cx="4983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94760" y="2011680"/>
            <a:ext cx="109728" cy="8229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21945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90288" y="20848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Guía auditiva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90288" y="243230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explica qué puede decir el usuario y lee las respuestas.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794760" y="2944368"/>
            <a:ext cx="4983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794760" y="2944368"/>
            <a:ext cx="109728" cy="822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5072" y="312724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590288" y="30175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Estados visibles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90288" y="336499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Escuchando, procesando, respondiendo y micrófono apagado.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794760" y="3877056"/>
            <a:ext cx="4983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794760" y="3877056"/>
            <a:ext cx="109728" cy="82296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5072" y="4059936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590288" y="395020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Modo prueba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590288" y="42976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escrita secundaria para validación técnica y debug.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PRUEBAS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Evidencias funcionales · Validación manual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572000" cy="2999232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521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Pruebas realizadas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934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9264" y="16093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iniciado correctamente en puerto 3001.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3911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9264" y="2039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consultado desde Supabase vía Prisma ORM.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9264" y="2468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creada desde API y frontend correctamente.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9864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9264" y="2898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DRAFT generado y actualizado con éxito.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28416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9264" y="3328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básico reconoce: resumen, menú, agregar y confirmar.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58184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9264" y="3758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reproduce respuestas mediante voz del navegador.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5166360" y="1078992"/>
            <a:ext cx="3611880" cy="2999232"/>
          </a:xfrm>
          <a:prstGeom prst="rect">
            <a:avLst/>
          </a:prstGeom>
          <a:solidFill>
            <a:srgbClr val="00C9A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5349240" y="1207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A"/>
                </a:solidFill>
              </a:rPr>
              <a:t>Resultado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5349240" y="16642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cuenta con un avance funcional integrando base de datos, backend, frontend y flujo conversacional básico.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834640"/>
            <a:ext cx="1645920" cy="164592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54864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Terminal · Thunder Client · POST /chat/message — Validación manual del flujo principal completada exitosamente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3560"/>
                </a:solidFill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</a:rPr>
              <a:t>LIMITACIONES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Estado actual del MVP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Limitaciones actuales y decisiones técnicas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724912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2724912" cy="475488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6420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572768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A"/>
                </a:solidFill>
              </a:rPr>
              <a:t>Estado Actual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0352" y="2231136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1488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voz depende del navegador.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0352" y="2889504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2807208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usa reglas simples, no LLM todavía.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" y="3547872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3465576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lenguaje natural es limitada.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0352" y="4206240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4123944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Modificadores complejos aún requieren mejora.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73552" y="1572768"/>
            <a:ext cx="2724912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73552" y="1572768"/>
            <a:ext cx="2724912" cy="47548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664208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76472" y="1572768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A"/>
                </a:solidFill>
              </a:rPr>
              <a:t>Decisión Técnica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438144" y="223113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0"/>
          <p:cNvSpPr/>
          <p:nvPr/>
        </p:nvSpPr>
        <p:spPr>
          <a:xfrm>
            <a:off x="3657600" y="21488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Edge para demo por compatibilidad con SpeechRecognition.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438144" y="288950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3657600" y="2807208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backend como fuente de verdad.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438144" y="354787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4"/>
          <p:cNvSpPr/>
          <p:nvPr/>
        </p:nvSpPr>
        <p:spPr>
          <a:xfrm>
            <a:off x="3657600" y="3465576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exponer claves ni conectar frontend directo a BD.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438144" y="420624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6"/>
          <p:cNvSpPr/>
          <p:nvPr/>
        </p:nvSpPr>
        <p:spPr>
          <a:xfrm>
            <a:off x="3657600" y="4123944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estabilizar flujo antes de IA local.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199632" y="1572768"/>
            <a:ext cx="2724912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199632" y="1572768"/>
            <a:ext cx="2724912" cy="475488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64208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702552" y="1572768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F2A"/>
                </a:solidFill>
              </a:rPr>
              <a:t>Siguiente Versión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364224" y="2231136"/>
            <a:ext cx="128016" cy="12801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6" name="Text 31"/>
          <p:cNvSpPr/>
          <p:nvPr/>
        </p:nvSpPr>
        <p:spPr>
          <a:xfrm>
            <a:off x="6583680" y="2148840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Ollama para interpretación avanzada.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364224" y="2889504"/>
            <a:ext cx="128016" cy="12801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8" name="Text 33"/>
          <p:cNvSpPr/>
          <p:nvPr/>
        </p:nvSpPr>
        <p:spPr>
          <a:xfrm>
            <a:off x="6583680" y="2807208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lectura del menú por categorías.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364224" y="3547872"/>
            <a:ext cx="128016" cy="12801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0" name="Text 35"/>
          <p:cNvSpPr/>
          <p:nvPr/>
        </p:nvSpPr>
        <p:spPr>
          <a:xfrm>
            <a:off x="6583680" y="3465576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estado de aclaración conversacional.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364224" y="4206240"/>
            <a:ext cx="128016" cy="12801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2" name="Text 37"/>
          <p:cNvSpPr/>
          <p:nvPr/>
        </p:nvSpPr>
        <p:spPr>
          <a:xfrm>
            <a:off x="6583680" y="4123944"/>
            <a:ext cx="224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menú real del restaurante.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9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A7"/>
                </a:solidFill>
              </a:rPr>
              <a:t>PLAN DE CONTINUIDAD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Próximos pasos · Ruta hacia tesis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Ruta para convertir el avance en prototipo sólido de tesis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" y="2075688"/>
            <a:ext cx="36576" cy="256032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09344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07008" y="1591056"/>
            <a:ext cx="7543800" cy="566928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07008" y="1591056"/>
            <a:ext cx="109728" cy="5669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1426464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Validación con menú real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26464" y="1883664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carta real, categorías, precios y variantes.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2715768"/>
            <a:ext cx="36576" cy="256032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249424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249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2A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07008" y="2231136"/>
            <a:ext cx="7543800" cy="566928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07008" y="2231136"/>
            <a:ext cx="109728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26464" y="2249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Mejora conversacional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26464" y="2523744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Soportar cantidades, variantes, aclaraciones y correcciones.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" y="3355848"/>
            <a:ext cx="36576" cy="256032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889504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2A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07008" y="2871216"/>
            <a:ext cx="7543800" cy="566928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07008" y="2871216"/>
            <a:ext cx="109728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1426464" y="2889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Integración IA local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26464" y="3163824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Ollama para interpretar lenguaje natural sin depender de nube.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" y="3995928"/>
            <a:ext cx="36576" cy="256032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3529584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2A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207008" y="3511296"/>
            <a:ext cx="7543800" cy="566928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207008" y="3511296"/>
            <a:ext cx="10972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1426464" y="3529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Voz robusta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26464" y="3803904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Whisper/local STT para mayor control y compatibilidad.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169664"/>
            <a:ext cx="502920" cy="50292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2A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207008" y="4151376"/>
            <a:ext cx="7543800" cy="566928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207008" y="4151376"/>
            <a:ext cx="109728" cy="56692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9" name="Text 37"/>
          <p:cNvSpPr/>
          <p:nvPr/>
        </p:nvSpPr>
        <p:spPr>
          <a:xfrm>
            <a:off x="1426464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Pruebas de accesibilidad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26464" y="4443984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usuarios reales y medir comprensión del flujo conversacional.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3560"/>
                </a:solidFill>
              </a:rPr>
              <a:t>15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286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500" dirty="0">
                <a:solidFill>
                  <a:srgbClr val="0A0F2A"/>
                </a:solidFill>
              </a:rPr>
              <a:t>DEMO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8288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936"/>
                </a:solidFill>
              </a:rPr>
              <a:t>Guion recomendado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00400" y="2286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Guion de demostración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200400" y="65836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Secuencia breve para exponer el avance funcional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051560"/>
            <a:ext cx="5577840" cy="50292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0" y="1051560"/>
            <a:ext cx="109728" cy="502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Shape 7"/>
          <p:cNvSpPr/>
          <p:nvPr/>
        </p:nvSpPr>
        <p:spPr>
          <a:xfrm>
            <a:off x="3364992" y="1143000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1" name="Text 8"/>
          <p:cNvSpPr/>
          <p:nvPr/>
        </p:nvSpPr>
        <p:spPr>
          <a:xfrm>
            <a:off x="3364992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A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94760" y="1088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Abrir frontend en Edge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794760" y="132588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micrófono central y presentación de Leo.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0" y="1627632"/>
            <a:ext cx="5577840" cy="50292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27632"/>
            <a:ext cx="109728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3364992" y="1719072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3364992" y="1719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A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94760" y="1664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Crear sesión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94760" y="190195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saluda y explica comandos básicos.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0" y="2203704"/>
            <a:ext cx="5577840" cy="50292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0" y="2203704"/>
            <a:ext cx="10972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19"/>
          <p:cNvSpPr/>
          <p:nvPr/>
        </p:nvSpPr>
        <p:spPr>
          <a:xfrm>
            <a:off x="3364992" y="2295144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364992" y="2295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A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794760" y="2240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Pedir menú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794760" y="247802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categorías o productos disponibles.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00400" y="2779776"/>
            <a:ext cx="5577840" cy="50292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0" y="2779776"/>
            <a:ext cx="109728" cy="502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Shape 25"/>
          <p:cNvSpPr/>
          <p:nvPr/>
        </p:nvSpPr>
        <p:spPr>
          <a:xfrm>
            <a:off x="3364992" y="2871216"/>
            <a:ext cx="320040" cy="3200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9" name="Text 26"/>
          <p:cNvSpPr/>
          <p:nvPr/>
        </p:nvSpPr>
        <p:spPr>
          <a:xfrm>
            <a:off x="3364992" y="2871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A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794760" y="2816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Agregar producto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794760" y="305409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"quiero una hamburguesa clásica".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200400" y="3355848"/>
            <a:ext cx="5577840" cy="50292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200400" y="3355848"/>
            <a:ext cx="109728" cy="5029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4" name="Shape 31"/>
          <p:cNvSpPr/>
          <p:nvPr/>
        </p:nvSpPr>
        <p:spPr>
          <a:xfrm>
            <a:off x="3364992" y="3447288"/>
            <a:ext cx="320040" cy="3200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5" name="Text 32"/>
          <p:cNvSpPr/>
          <p:nvPr/>
        </p:nvSpPr>
        <p:spPr>
          <a:xfrm>
            <a:off x="3364992" y="3447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A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794760" y="33924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Repetir pedido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3794760" y="363016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que el asistente lea el resumen.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200400" y="3931920"/>
            <a:ext cx="5577840" cy="502920"/>
          </a:xfrm>
          <a:prstGeom prst="rect">
            <a:avLst/>
          </a:prstGeom>
          <a:solidFill>
            <a:srgbClr val="1A2544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200400" y="3931920"/>
            <a:ext cx="109728" cy="5029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0" name="Shape 37"/>
          <p:cNvSpPr/>
          <p:nvPr/>
        </p:nvSpPr>
        <p:spPr>
          <a:xfrm>
            <a:off x="3364992" y="4023360"/>
            <a:ext cx="320040" cy="3200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1" name="Text 38"/>
          <p:cNvSpPr/>
          <p:nvPr/>
        </p:nvSpPr>
        <p:spPr>
          <a:xfrm>
            <a:off x="3364992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A"/>
                </a:solidFill>
              </a:rPr>
              <a:t>6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794760" y="39684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Confirmar pedido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794760" y="42062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bloqueo de cambios posterior.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200400" y="4572000"/>
            <a:ext cx="557784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5" name="Text 42"/>
          <p:cNvSpPr/>
          <p:nvPr/>
        </p:nvSpPr>
        <p:spPr>
          <a:xfrm>
            <a:off x="3310128" y="4572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0F2A"/>
                </a:solidFill>
              </a:rPr>
              <a:t>"El avance demuestra integración funcional de frontend, backend, BD y flujo conversacional accesible."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3560"/>
                </a:solidFill>
              </a:rPr>
              <a:t>16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1497</Words>
  <Application>Microsoft Office PowerPoint</Application>
  <PresentationFormat>Presentación en pantalla (16:9)</PresentationFormat>
  <Paragraphs>297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Menú por Voz con IA</dc:title>
  <dc:subject>PptxGenJS Presentation</dc:subject>
  <dc:creator>Ingeniería de Sistemas</dc:creator>
  <cp:lastModifiedBy>Paul Flores</cp:lastModifiedBy>
  <cp:revision>3</cp:revision>
  <dcterms:created xsi:type="dcterms:W3CDTF">2026-05-17T23:57:44Z</dcterms:created>
  <dcterms:modified xsi:type="dcterms:W3CDTF">2026-05-20T00:51:11Z</dcterms:modified>
</cp:coreProperties>
</file>